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resentação principal" id="{986B5B4E-E09F-9B91-170B-38A7CDDB2CB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4"/>
            <p14:sldId id="265"/>
            <p14:sldId id="266"/>
            <p14:sldId id="263"/>
          </p14:sldIdLst>
        </p14:section>
        <p14:section name="Slides extras (consulta)" id="{518B1689-D010-F526-B272-CF783B4234F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lang="pt-BR" sz="1100" b="0" i="0" u="none" strike="noStrike">
                <a:solidFill>
                  <a:srgbClr val="000000"/>
                </a:solidFill>
                <a:latin typeface="+mn-lt"/>
              </a:rPr>
              <a:t>Forma teórica (ilustração)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ln w="31750" cap="flat">
              <a:solidFill>
                <a:srgbClr val="0E9AA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E9AA7"/>
              </a:solidFill>
              <a:ln w="9525" cap="flat">
                <a:solidFill>
                  <a:srgbClr val="0E9AA7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</c:v>
                </c:pt>
                <c:pt idx="1">
                  <c:v>40</c:v>
                </c:pt>
                <c:pt idx="2">
                  <c:v>80</c:v>
                </c:pt>
                <c:pt idx="3">
                  <c:v>160</c:v>
                </c:pt>
                <c:pt idx="4">
                  <c:v>320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FF-4E3C-B094-A3219AFE51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 log n</c:v>
                </c:pt>
              </c:strCache>
            </c:strRef>
          </c:tx>
          <c:spPr>
            <a:ln w="31750" cap="flat">
              <a:solidFill>
                <a:srgbClr val="0B1F3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B1F33"/>
              </a:solidFill>
              <a:ln w="9525" cap="flat">
                <a:solidFill>
                  <a:srgbClr val="0B1F33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</c:v>
                </c:pt>
                <c:pt idx="1">
                  <c:v>40</c:v>
                </c:pt>
                <c:pt idx="2">
                  <c:v>80</c:v>
                </c:pt>
                <c:pt idx="3">
                  <c:v>160</c:v>
                </c:pt>
                <c:pt idx="4">
                  <c:v>320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2.46</c:v>
                </c:pt>
                <c:pt idx="2">
                  <c:v>5.85</c:v>
                </c:pt>
                <c:pt idx="3">
                  <c:v>13.55</c:v>
                </c:pt>
                <c:pt idx="4">
                  <c:v>30.81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FF-4E3C-B094-A3219AFE51D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n²</c:v>
                </c:pt>
              </c:strCache>
            </c:strRef>
          </c:tx>
          <c:spPr>
            <a:ln w="31750" cap="flat">
              <a:solidFill>
                <a:srgbClr val="F2A33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2A33A"/>
              </a:solidFill>
              <a:ln w="9525" cap="flat">
                <a:solidFill>
                  <a:srgbClr val="F2A33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</c:v>
                </c:pt>
                <c:pt idx="1">
                  <c:v>40</c:v>
                </c:pt>
                <c:pt idx="2">
                  <c:v>80</c:v>
                </c:pt>
                <c:pt idx="3">
                  <c:v>160</c:v>
                </c:pt>
                <c:pt idx="4">
                  <c:v>320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16</c:v>
                </c:pt>
                <c:pt idx="3">
                  <c:v>64</c:v>
                </c:pt>
                <c:pt idx="4">
                  <c:v>256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FF-4E3C-B094-A3219AFE51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pt-BR" sz="900" b="0" i="0" u="none" strike="noStrike">
                    <a:solidFill>
                      <a:srgbClr val="000000"/>
                    </a:solidFill>
                    <a:latin typeface="Arial"/>
                  </a:rPr>
                  <a:t>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97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[PROPOSTA] Boa tarde. Somos Andrey e Igor, e vamos apresentar o artigo parcial "Priorização de Testes Automatizados sob Restrição de Tempo: uma Avaliação de Heurísticas Gulosas". O trabalho é da disciplina de Análise e Projeto de Algoritmos, com o eixo E5, algoritmos gulosos, como principal e o E1, análise de complexidade, como apoio. Tudo o que vamos mostrar hoje é o problema, a formalização e o plano do estudo. A pergunta que guia o trabalho é: quando antecipar a detecção de defeitos compensa o custo de calcular a ordem dos testes?
Transição: Para entender a pergunta, vamos primeiro ver por que a ordem dos testes importa.
Detalhe técnico: Eixos: E5 principal, E1 secundário. Esta apresentação cobre apenas o que consta no artigo parcial (proposta e protocolo planejado).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[CONTEXTO] Imagine uma suíte com quatro testes de durações diferentes. Os blocos aqui têm largura proporcional à duração. Se um defeito só é revelado pelo teste T3, na ordem inicial precisamos esperar T1 e T2 terminarem: sete unidades de tempo. Se T3 vier primeiro, o defeito aparece depois de uma unidade. Os mesmos quatro testes, a mesma suíte, mas o feedback chega muito mais cedo. Priorizar significa reordenar, e não remover testes. Isso é diferente de seleção, que escolhe um subconjunto, e de minimização, que elimina testes redundantes. Os números do desenho são só um exemplo ilustrativo.
Transição: Dito isso, qual é exatamente o objetivo do estudo?
Detalhe técnico: Priorização, seleção e minimização são problemas distintos (Di Nardo et al., 2015). Exemplo ilustrativo: durações 4, 2, 1 e 3 unidades; só T3 revela o defeito. Não são dados do estudo.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[PROPOSTA] O objetivo geral é comparar heurísticas simples de priorização quanto a dois aspectos ao mesmo tempo: quão cedo elas antecipam a detecção de defeitos e quanto trabalho computacional custa produzir a ordem. Formulamos três perguntas. A primeira, sobre eficácia: como as estratégias diferem quando os testes têm durações distintas? A segunda, sobre crescimento: o custo dos priorizadores acompanha a análise assintótica? E a terceira, sobre sobrecarga: o benefício continua quando incluímos o tempo de calcular a ordem? A contribuição esperada é um protocolo reproduzível, e não um algoritmo novo.
Transição: Para responder, precisamos dizer com precisão o que entra e o que sai de cada algoritmo.
Detalhe técnico: QP1 eficácia, QP2 crescimento, QP3 sobrecarga. O artigo não reivindica algoritmo novo nem superioridade universal de uma heurística.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[PROPOSTA] Formalmente, a entrada é uma suíte de n testes. Cada teste tem um conjunto de linhas cobertas e uma duração positiva. A saída é uma permutação completa dos n testes: nenhum é descartado. Para avaliar sob restrição de tempo, usamos um orçamento B e olhamos o maior prefixo da ordem cuja soma de durações cabe em B, sem pular testes. E há uma separação metodológica essencial: o priorizador só enxerga cobertura, duração e identificador. A matriz que diz qual teste revela qual defeito fica reservada à avaliação, para o algoritmo não usar informação que, na prática, ele não teria.
Transição: Agora, de onde vêm esses testes, essa cobertura e esses defeitos? Do protótipo que construímos.
Detalhe técnico: Entrada: T com n testes, Ci subconjunto de U, m = |U|, duração ci &gt; 0. Saída: permutação de T. Prefixo sob B: sem saltar testes que não cabem. Provar corretude da permutação: invariante de partição entre escolhidos e restantes, uma remoção por iteração.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[PROPOSTA (PROTOCOLO PLANEJADO)] O objeto de estudo é o MiniPedidos, um pequeno sistema em Python criado para o trabalho. Ele calcula desconto com cupons e condição de membro, frete por região e peso, controle de estoque e o fechamento de um pedido. Um gerador produzirá 567 casos de teste, e criaremos 18 versões do programa, cada uma com um defeito artificial inserido. De cada teste vamos medir o conjunto de linhas que ele executa e a sua duração. Reconhecemos o limite: é um protótipo artificial, pequeno, e não representa um sistema industrial.
Transição: Com esses dados em mãos, o priorizador precisa de uma regra. Vamos às seis estratégias.
Detalhe técnico: Valores monetários inteiros em centavos; oráculo separado do objeto em src/cases.py; defeitos documentados em data/fault_catalog.json. Cobertura de linhas coletada separadamente da medição temporal. Número de linhas observadas: dado do experimento (artigo completo), não do parcial.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[PROPOSTA] Comparamos seis estratégias. A ordem de referência apenas mantém a ordem inicial. A aleatória embaralha com semente fixa, para ser reprodutível. A de menor duração coloca primeiro os testes mais rápidos. A cobertura total ordena pelo número de linhas que cada teste cobre. A cobertura adicional escolhe, a cada passo, o teste que cobre mais linhas ainda não cobertas. E a adicional por custo divide esse ganho pela duração do teste. As duas últimas são gulosas: tomam a melhor decisão local a cada passo, sem garantir a melhor permutação global. Empates são resolvidos pelo identificador.
Transição: A diferença entre total e adicional é sutil; um exemplo pequeno ajuda.
Detalhe técnico: Implementação real (src/prioritizers.py): adicional e adicional/custo mantêm o conjunto de linhas ainda não vistas; quando nenhum teste restante soma ganho e há linhas vistas, o conjunto é reiniciado e a escolha é refeita; todos os testes permanecem. Escore do custo: ganho / duração medida.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[EXEMPLO ILUSTRATIVO] Aqui temos oito linhas de código e quatro testes. Cada quadrado preenchido é uma linha coberta. Pela cobertura total, a ordem é T1, T2, T3, T4: T1 cobre cinco linhas e T2 cobre quatro, então T2 vem em segundo. Só que T2 repete as linhas de T1, e depois dos dois testes continuamos com cinco linhas cobertas. Na cobertura adicional, depois de T1 o ganho de T2 é zero; T3 traz duas linhas novas e é escolhido. Depois de dois testes, já cobrimos sete linhas. Cobrir mais linhas não garante achar mais defeitos, mas mostra por que o adicional evita repetição. Lembrem: é um exemplo ilustrativo, não um resultado.
Transição: Estratégias definidas. Antes de avaliar, vamos ver o que a literatura nos oferece.
Detalhe técnico: Exemplo: T1={1,2,3,4,5}, T2={1,2,3,4}, T3={6,7}, T4={5,8}. Total: T1,T2,T3,T4 (empate T3/T4 por id). Adicional: T1 (ganho 5), T3 (2), T4 (1), T2 (0). Cobertura após 2 testes: 5 de 8 linhas (total) contra 7 de 8 (adicional). Cobertura indica execução, não detecção.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[PLANO (NADA AQUI É RESULTADO)] Este é o protocolo planejado, não resultado. Geramos os casos e as versões com defeito, medimos cobertura e duração de cada teste, e então aplicamos as seis estratégias em suítes de cinco tamanhos crescentes, de 20 a 320 testes, com dez sementes por tamanho. Cada instância é totalmente ordenada. Mediremos o APFD, que considera as posições em que os defeitos aparecem; o APFDc, que incorpora as durações, com severidade uniforme; quantos defeitos são detectados dentro do orçamento B; o tempo gasto para calcular a ordem; o tempo até o primeiro defeito somado a esse custo; e a memória auxiliar. As métricas das ordens são simuladas somando custos medidos; não é um pipeline industrial.
Transição: E como o custo de calcular a ordem entra na análise teórica? É o próximo slide.
Detalhe técnico: Instâncias n em {20,40,80,160,320}, dez sementes, amostras pareadas. Custo de um caso: mediana de lotes; tempo de priorização: mediana de chamadas internas. Detecção vem de execuções reais das versões defeituosas; tempos das ordens, de soma de custos medidos.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[ANÁLISE TEÓRICA PROPOSTA] Esta é a tabela de complexidades. Referência e aleatória custam O(n). Menor duração e cobertura total só ordenam n valores, O(n log n). Já as estratégias adicionais repetem a avaliação dos candidatos a cada escolha: primeiro n candidatos, depois n menos um, e assim por diante, somando cerca de n ao quadrado sobre dois, e cada avaliação pode percorrer até m linhas. Daí O(n² m). Em palavras: o guloso adaptativo é o único que cresce de forma quadrática com a suíte. O gráfico mostra só a forma teórica das curvas, sem unidade. Vamos separar três coisas: o limite teórico, o tempo medido e o ajuste empírico, e nunca usar o ajuste como prova.
Transição: Para fechar, vamos às limitações e ao que esperamos contribuir.
Detalhe técnico: n testes, m elementos de cobertura; hash com custo esperado constante; cobertura materializada. Espaço auxiliar: O(n) nas quatro primeiras, O(n+m) nas adicionais, além da entrada. Fórmula escrita O(n²(m+1)) para cobrir m=0. Gráfico: n, n log n, n² normalizados em n=20, ilustração e não medição.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[LIMITAÇÃO E CONTRIBUIÇÃO ESPERADA] Para encerrar, as limitações: os defeitos são artificiais, o sistema é um só, os testes são muito curtos, microtempos são sensíveis a custos fixos, e por isso os resultados não generalizam automaticamente. Cuidados de interpretação: cobertura não garante detecção, resultado empírico não prova complexidade, e a garantia de Chvátal vale para cobertura de conjuntos. Em síntese: mudar a ordem dos testes pode antecipar a detecção de defeitos, mas esse benefício precisa ser comparado ao custo de calcular a nova ordem. Nossa contribuição esperada é uma comparação transparente e reproduzível de seis estratégias. Obrigado, e ficamos à disposição para perguntas.
Transição: Encerramento. Abrir para perguntas; os slides extras ficam para consulta.
Detalhe técnico: O artigo parcial não traz cronograma do 2º bimestre. Os próximos passos listados vêm da apresentação anterior. Definir cronograma e riscos antes de apresentar, pois o roteiro do professor pede.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[FUNDAMENTAÇÃO] A literatura sustenta o trabalho em cinco frentes. Rothermel e colegas definem a priorização e a detecção antecipada. Li, Harman e Hierons comparam heurísticas gulosas e de busca por cobertura, e Chvátal, em 1979, analisa o guloso para cobertura de conjuntos, com o limite harmônico. Elbaum e colegas, Walcott e colegas e Ahmed e colegas incorporam custo e tempo à avaliação. Inozemtseva e Holmes mostram que cobertura não é sinônimo de eficácia, e Just e colegas discutem se mutantes representam defeitos reais. Por fim, trabalhos recentes, como o AGA, reduzem o custo do próprio guloso adicional. Um cuidado importante: a garantia de Chvátal vale para cobertura de conjuntos, e não para APFD, APFDc ou a permutação completa.
Transição: Com essa base, como pretendemos avaliar as estratégias?
Detalhe técnico: Referências do artigo parcial: R01 a R12 (lista no Extra C). Matriz: níveis de leitura variam (integral, parcial, apenas resumo); só afirmar o que foi efetivamente lido. Chvátal: razão H(d), d = maior conjunto.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02920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182880"/>
            <a:ext cx="274320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Shape 2"/>
          <p:cNvSpPr/>
          <p:nvPr/>
        </p:nvSpPr>
        <p:spPr>
          <a:xfrm>
            <a:off x="1325880" y="182880"/>
            <a:ext cx="164592" cy="64008"/>
          </a:xfrm>
          <a:prstGeom prst="rect">
            <a:avLst/>
          </a:prstGeom>
          <a:solidFill>
            <a:srgbClr val="F2A33A"/>
          </a:solidFill>
          <a:ln/>
        </p:spPr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Priorização de testes sob restrição de tempo • CESUPA • APA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02920" cy="64008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05840" y="182880"/>
            <a:ext cx="274320" cy="64008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325880" y="182880"/>
            <a:ext cx="164592" cy="64008"/>
          </a:xfrm>
          <a:prstGeom prst="rect">
            <a:avLst/>
          </a:prstGeom>
          <a:solidFill>
            <a:srgbClr val="F2A3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TRA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02920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182880"/>
            <a:ext cx="274320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Shape 2"/>
          <p:cNvSpPr/>
          <p:nvPr/>
        </p:nvSpPr>
        <p:spPr>
          <a:xfrm>
            <a:off x="1325880" y="182880"/>
            <a:ext cx="164592" cy="64008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EXTRA • consulta durante perguntas • fora do tempo da fala principal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de testes automatizados sob restrição de tempo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2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ARTIGO PARCIAL • PROJETO DE PESQUISA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D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avaliação de heurísticas gulosas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143049"/>
          </a:solidFill>
          <a:ln w="12700">
            <a:solidFill>
              <a:srgbClr val="1430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central  </a:t>
            </a:r>
            <a:r>
              <a:rPr lang="pt-BR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a pena gastar tempo ordenando os testes para detectar falhas mais cedo?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Andrey Lourival Andrade Garcia  •  Igor Cecim Vilhena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DE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CESUPA  •  Análise e Projeto de Algoritmos  •  Eixos E5 (principal) + E1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a ordem dos testes muda quando o defeito aparece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é reordenar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testes continuam na suíte; muda apenas a ordem de execução.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escolhe um subconjunto. Minimização remove redundâncias. São problemas diferentes.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383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cedo = o defeito é observado antes. O ganho depende da ordem e da duração de cada teste.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206240" y="1051560"/>
            <a:ext cx="1737360" cy="237744"/>
          </a:xfrm>
          <a:prstGeom prst="roundRect">
            <a:avLst>
              <a:gd name="adj" fmla="val 23077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206240" y="10515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EXEMPLO ILUSTRATIVO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inicial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691640"/>
            <a:ext cx="1801368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4206240" y="169164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886968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035040" y="1691640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1691640"/>
            <a:ext cx="429768" cy="411480"/>
          </a:xfrm>
          <a:prstGeom prst="rect">
            <a:avLst/>
          </a:prstGeom>
          <a:solidFill>
            <a:srgbClr val="D948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949440" y="1691640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1691640"/>
            <a:ext cx="1344168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7406640" y="169164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2148840"/>
            <a:ext cx="0" cy="274320"/>
          </a:xfrm>
          <a:prstGeom prst="line">
            <a:avLst/>
          </a:prstGeom>
          <a:noFill/>
          <a:ln w="25400">
            <a:solidFill>
              <a:srgbClr val="D948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5029200" y="2468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defeito revelado após 7 u.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2880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priorizada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3154680"/>
            <a:ext cx="429768" cy="411480"/>
          </a:xfrm>
          <a:prstGeom prst="rect">
            <a:avLst/>
          </a:prstGeom>
          <a:solidFill>
            <a:srgbClr val="D948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4206240" y="3154680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154680"/>
            <a:ext cx="1801368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4663440" y="315468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154680"/>
            <a:ext cx="1344168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6492240" y="315468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63840" y="3154680"/>
            <a:ext cx="886968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7863840" y="3154680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611880"/>
            <a:ext cx="0" cy="274320"/>
          </a:xfrm>
          <a:prstGeom prst="line">
            <a:avLst/>
          </a:prstGeom>
          <a:noFill/>
          <a:ln w="25400">
            <a:solidFill>
              <a:srgbClr val="D948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475488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defeito revelado após 1 u.</a:t>
            </a:r>
            <a:endParaRPr 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 perguntas de pesquisa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geral: comparar heurísticas simples quanto à antecipação da detecção e ao custo de produzir a ordem.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731520" cy="237744"/>
          </a:xfrm>
          <a:prstGeom prst="roundRect">
            <a:avLst>
              <a:gd name="adj" fmla="val 23077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Eficácia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estratégias diferem em detecção antecipada quando os testes têm durações distintas?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92024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429000" y="2103120"/>
            <a:ext cx="731520" cy="237744"/>
          </a:xfrm>
          <a:prstGeom prst="roundRect">
            <a:avLst>
              <a:gd name="adj" fmla="val 23077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3429000" y="21031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8346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dos priorizadores acompanha a análise assintótica?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731520" cy="237744"/>
          </a:xfrm>
          <a:prstGeom prst="roundRect">
            <a:avLst>
              <a:gd name="adj" fmla="val 23077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217920" y="21031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8346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benefício persiste quando se inclui o tempo de calcular a ordem?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Contribuição esperada: protocolo reproduzível e análise de compromissos; sem algoritmo novo.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Formalização: o que entra, o que sai e o que é só avaliação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1554480"/>
          </a:xfrm>
          <a:prstGeom prst="roundRect">
            <a:avLst>
              <a:gd name="adj" fmla="val 352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testes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Ci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ci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13432" y="1874520"/>
            <a:ext cx="274320" cy="256032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587752" y="1234440"/>
            <a:ext cx="1828800" cy="1554480"/>
          </a:xfrm>
          <a:prstGeom prst="roundRect">
            <a:avLst>
              <a:gd name="adj" fmla="val 352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2587752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PRIORIZADOR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79192" y="16916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decisão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estratégias)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43984" y="1874520"/>
            <a:ext cx="274320" cy="256032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18304" y="1234440"/>
            <a:ext cx="1828800" cy="1554480"/>
          </a:xfrm>
          <a:prstGeom prst="roundRect">
            <a:avLst>
              <a:gd name="adj" fmla="val 352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4718304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SAÍDA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09744" y="16916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permutação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dos n testes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74536" y="1874520"/>
            <a:ext cx="274320" cy="256032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848856" y="1234440"/>
            <a:ext cx="1828800" cy="1554480"/>
          </a:xfrm>
          <a:prstGeom prst="roundRect">
            <a:avLst>
              <a:gd name="adj" fmla="val 3529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848856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AVALIAÇÃO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940296" y="16916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defeitos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orçamento 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685800" y="3154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metodológica  </a:t>
            </a:r>
            <a:r>
              <a:rPr lang="en-US" sz="13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priorizador não recebe nenhuma informação sobre defeitos. A matriz de defeitos é usada apenas depois, para avaliar a ordem.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B: avalia-se o maior prefixo cuja soma das durações não excede B.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protótipo MiniPedidos: de onde vêm testes, cobertura e defeitos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94360" y="1252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00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 5%; cupons PROMO10 e FIXO500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80360" y="114300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3017520" y="1252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600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por região e peso; expresso; frete grátis condicional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594360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quantidade; devolve estoque restante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80360" y="265176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3017520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tudo e devolve total, desconto e frete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14300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566928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567 casos gerados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 do protótipo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214884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566928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versões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com 1 defeito artificial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315468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566928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Ci + duração ci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por teste; guiam o priorizador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Limite: protótipo artificial e pequeno; não representa sistemas industriais.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estratégias de priorização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ordem inicial fixa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14300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33832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Aleatória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embaralha com semente reprodutível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14300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1722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duração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por ci crescente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9436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total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 maior |Ci|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274320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338328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adicional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 mais linhas ainda não cobertas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3840480"/>
            <a:ext cx="1645920" cy="237744"/>
          </a:xfrm>
          <a:prstGeom prst="roundRect">
            <a:avLst>
              <a:gd name="adj" fmla="val 23077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3383280" y="38404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GULOSO ADAPTATIVO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274320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61722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Adicional</a:t>
            </a: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tempo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 ganho adicional por duração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3840480"/>
            <a:ext cx="1645920" cy="237744"/>
          </a:xfrm>
          <a:prstGeom prst="roundRect">
            <a:avLst>
              <a:gd name="adj" fmla="val 23077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6172200" y="38404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GULOSO ADAPTATIVO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Gulosas = decisões locais sucessivas; sem garantia de melhor permutação global. Empates: identificador.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total × adicional: um exemplo pequeno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737360" cy="237744"/>
          </a:xfrm>
          <a:prstGeom prst="roundRect">
            <a:avLst>
              <a:gd name="adj" fmla="val 23077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EXEMPLO ILUSTRATIVO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417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→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60020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307592" y="160020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655064" y="160020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002536" y="160020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350008" y="160020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60020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044952" y="160020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392424" y="160020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8288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1828800"/>
            <a:ext cx="310896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1307592" y="1828800"/>
            <a:ext cx="310896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655064" y="1828800"/>
            <a:ext cx="310896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002536" y="1828800"/>
            <a:ext cx="310896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2350008" y="1828800"/>
            <a:ext cx="310896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697480" y="18288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044952" y="18288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3392424" y="18288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457200" y="22860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0120" y="2286000"/>
            <a:ext cx="310896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307592" y="2286000"/>
            <a:ext cx="310896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655064" y="2286000"/>
            <a:ext cx="310896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2002536" y="2286000"/>
            <a:ext cx="310896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2350008" y="22860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2697480" y="22860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3044952" y="22860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3392424" y="22860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457200" y="27432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60120" y="27432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1307592" y="27432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1655064" y="27432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2002536" y="27432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2350008" y="27432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2697480" y="2743200"/>
            <a:ext cx="310896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3044952" y="2743200"/>
            <a:ext cx="310896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3392424" y="27432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 txBox="1"/>
          <p:nvPr/>
        </p:nvSpPr>
        <p:spPr>
          <a:xfrm>
            <a:off x="457200" y="32004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60120" y="32004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1307592" y="32004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1655064" y="32004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2002536" y="32004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2350008" y="3200400"/>
            <a:ext cx="310896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2697480" y="32004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3044952" y="32004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3392424" y="3200400"/>
            <a:ext cx="310896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 txBox="1"/>
          <p:nvPr/>
        </p:nvSpPr>
        <p:spPr>
          <a:xfrm>
            <a:off x="45720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cobre 5 · T2 cobre 4 · T3 cobre 2 · T4 cobre 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297680" y="1325880"/>
            <a:ext cx="4389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4480560" y="1463040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 txBox="1"/>
          <p:nvPr/>
        </p:nvSpPr>
        <p:spPr>
          <a:xfrm>
            <a:off x="4480560" y="1463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448056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→ T2 → T3 → T4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448056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2 testes: 5 de 8 linhas (T2 repete T1)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297680" y="2697480"/>
            <a:ext cx="4389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4480560" y="2834640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 txBox="1"/>
          <p:nvPr/>
        </p:nvSpPr>
        <p:spPr>
          <a:xfrm>
            <a:off x="4480560" y="28346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ADICIONAL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4480560" y="3154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→ T3 → T4 → T2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4480560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2 testes: 7 de 8 linhas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4297680" y="4160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9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mostra o que foi executado, não que um defeito será revelado.</a:t>
            </a:r>
            <a:endParaRPr lang="en-US" sz="120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avaliação e métricas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566928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casos e defeitos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87752" y="137160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697480" y="1463040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26974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cobertura e duração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18304" y="137160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828032" y="1463040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4828032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55464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Priorizar: 6 estratégias × 5 tamanhos × 10 sementes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48856" y="137160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958584" y="1463040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6958584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86016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com a matriz de defeitos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2651760" cy="841248"/>
          </a:xfrm>
          <a:prstGeom prst="roundRect">
            <a:avLst>
              <a:gd name="adj" fmla="val 652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594360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APFD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1272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posições em que os defeitos aparecem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743200"/>
            <a:ext cx="2651760" cy="841248"/>
          </a:xfrm>
          <a:prstGeom prst="roundRect">
            <a:avLst>
              <a:gd name="adj" fmla="val 652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3383280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APFDc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31272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durações; severidade uniforme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743200"/>
            <a:ext cx="2651760" cy="841248"/>
          </a:xfrm>
          <a:prstGeom prst="roundRect">
            <a:avLst>
              <a:gd name="adj" fmla="val 652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6172200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Defeitos sob B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31272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detectados no prefixo que cabe no orçamento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2651760" cy="841248"/>
          </a:xfrm>
          <a:prstGeom prst="roundRect">
            <a:avLst>
              <a:gd name="adj" fmla="val 652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594360" y="3776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priorização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4087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para calcular a ordem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46120" y="3703320"/>
            <a:ext cx="2651760" cy="841248"/>
          </a:xfrm>
          <a:prstGeom prst="roundRect">
            <a:avLst>
              <a:gd name="adj" fmla="val 652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 txBox="1"/>
          <p:nvPr/>
        </p:nvSpPr>
        <p:spPr>
          <a:xfrm>
            <a:off x="3383280" y="3776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feedback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383280" y="4087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defeito + tempo do priorizador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3703320"/>
            <a:ext cx="2651760" cy="841248"/>
          </a:xfrm>
          <a:prstGeom prst="roundRect">
            <a:avLst>
              <a:gd name="adj" fmla="val 652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 txBox="1"/>
          <p:nvPr/>
        </p:nvSpPr>
        <p:spPr>
          <a:xfrm>
            <a:off x="6172200" y="3776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auxiliar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172200" y="4087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de alocação do priorizador</a:t>
            </a:r>
            <a:endParaRPr lang="en-US" sz="11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o custo de calcular a ordem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292650"/>
              </p:ext>
            </p:extLst>
          </p:nvPr>
        </p:nvGraphicFramePr>
        <p:xfrm>
          <a:off x="457200" y="1097280"/>
          <a:ext cx="4846320" cy="234508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Espaço aux.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Aleatória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duração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adicional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O(n²(m+1))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O(n+m)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>
                          <a:solidFill>
                            <a:srgbClr val="1B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Adicional</a:t>
                      </a:r>
                      <a:r>
                        <a:rPr lang="en-US" sz="1100" b="1" dirty="0">
                          <a:solidFill>
                            <a:srgbClr val="1B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com tempo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O(n²(m+1))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O(n+m)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nº de testes · m = nº de elementos de cobertura. Hash com custo esperado constante.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931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9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coisas distintas: </a:t>
            </a:r>
            <a:r>
              <a:rPr lang="en-US" sz="1200" dirty="0">
                <a:solidFill>
                  <a:srgbClr val="D9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teórico ≠ tempo medido ≠ ajuste empírico. A curva medida não prova a complexidade.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0" y="1005840"/>
          <a:ext cx="32918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0" y="4343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relativo a n = 20; não é medição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síntese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9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previstas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Defeitos artificiais; um único sistema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muito curtos; microtempos sensíveis a custos fixos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não garante detecção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empírico não </a:t>
            </a:r>
            <a:r>
              <a:rPr lang="en-US" sz="1300" dirty="0" err="1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</a:t>
            </a:r>
            <a:r>
              <a:rPr lang="en-US" sz="13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1097280"/>
            <a:ext cx="4114800" cy="2651760"/>
          </a:xfrm>
          <a:prstGeom prst="roundRect">
            <a:avLst>
              <a:gd name="adj" fmla="val 206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8006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SÍNTESE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600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a ordem dos testes pode antecipar a detecção de defeitos, mas esse benefício precisa ser comparado ao custo de calcular a nova ordem.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3017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D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Contribuição esperada: comparação transparente e reproduzível de seis estratégias.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passos: validar autoria e referências · executar o protocolo reproduzível · comparar custos medidos com os limites teóricos.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literatura acrescenta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468880" y="1097280"/>
            <a:ext cx="62179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2606040" y="1097280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Rothermel et al. (2001); Elbaum et al. (2002)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definem priorização e estudam sua eficácia empírica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92224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548640" y="179222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Guloso e cobertura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792224"/>
            <a:ext cx="62179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2606040" y="1792224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Li, Harman e Hierons (2007); Chvátal (1979)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comparam heurísticas; limite harmônico para Set Cover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548640" y="248716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 tempo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2487168"/>
            <a:ext cx="62179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2606040" y="2487168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Elbaum et al. (2001); Walcott et al. (2006); Ahmed et al. (2022)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levam custos, severidade e orçamento à avaliação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82112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D9482B"/>
          </a:solidFill>
          <a:ln w="12700">
            <a:solidFill>
              <a:srgbClr val="D948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548640" y="318211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≠ eficácia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68880" y="3182112"/>
            <a:ext cx="62179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2606040" y="3182112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Inozemtseva e Holmes (2014); Just et al. (2014)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não garante detecção; mutantes têm limites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548640" y="387705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do priorizador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68880" y="3877056"/>
            <a:ext cx="621792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2606040" y="3877056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(2022, AGA); Zhang et al. (2022)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reduzem o esforço do guloso; alternativas recentes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garantia de Chvátal vale para Set Cover, não para APFD, APFDc nem para a permutação completa.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orizacao">
  <a:themeElements>
    <a:clrScheme name="Priorizacao">
      <a:dk1>
        <a:srgbClr val="1B2B3C"/>
      </a:dk1>
      <a:lt1>
        <a:srgbClr val="FFFFFF"/>
      </a:lt1>
      <a:dk2>
        <a:srgbClr val="0B1F33"/>
      </a:dk2>
      <a:lt2>
        <a:srgbClr val="F3F6F9"/>
      </a:lt2>
      <a:accent1>
        <a:srgbClr val="0E9AA7"/>
      </a:accent1>
      <a:accent2>
        <a:srgbClr val="F2A33A"/>
      </a:accent2>
      <a:accent3>
        <a:srgbClr val="D9482B"/>
      </a:accent3>
      <a:accent4>
        <a:srgbClr val="3B6FB6"/>
      </a:accent4>
      <a:accent5>
        <a:srgbClr val="5B6B7B"/>
      </a:accent5>
      <a:accent6>
        <a:srgbClr val="DDE6EE"/>
      </a:accent6>
      <a:hlink>
        <a:srgbClr val="0E9AA7"/>
      </a:hlink>
      <a:folHlink>
        <a:srgbClr val="5B6B7B"/>
      </a:folHlink>
    </a:clrScheme>
    <a:fontScheme name="Priorizaca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3195</Words>
  <Application>Microsoft Office PowerPoint</Application>
  <PresentationFormat>Apresentação na tela (16:9)</PresentationFormat>
  <Paragraphs>217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Priorizacao</vt:lpstr>
      <vt:lpstr>Priorização de testes automatizados sob restrição de tempo</vt:lpstr>
      <vt:lpstr>O problema: a ordem dos testes muda quando o defeito aparece</vt:lpstr>
      <vt:lpstr>Objetivo e perguntas de pesquisa</vt:lpstr>
      <vt:lpstr>Formalização: o que entra, o que sai e o que é só avaliação</vt:lpstr>
      <vt:lpstr>O protótipo MiniPedidos: de onde vêm testes, cobertura e defeitos</vt:lpstr>
      <vt:lpstr>Seis estratégias de priorização</vt:lpstr>
      <vt:lpstr>Cobertura total × adicional: um exemplo pequeno</vt:lpstr>
      <vt:lpstr>Plano de avaliação e métricas</vt:lpstr>
      <vt:lpstr>Complexidade: o custo de calcular a ordem</vt:lpstr>
      <vt:lpstr>Limitações e síntese</vt:lpstr>
      <vt:lpstr>O que a literatura acrescenta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Priorização de Testes Automatizados sob Restrição de Tempo</dc:title>
  <dc:subject>PptxGenJS Presentation</dc:subject>
  <dc:creator>Andrey Lourival Andrade Garcia; Igor Cecim Vilhena</dc:creator>
  <cp:lastModifiedBy>Andrey Lourival Andrade Garcia</cp:lastModifiedBy>
  <cp:revision>2</cp:revision>
  <dcterms:created xsi:type="dcterms:W3CDTF">2026-10-16T13:47:33Z</dcterms:created>
  <dcterms:modified xsi:type="dcterms:W3CDTF">2026-10-16T20:16:33Z</dcterms:modified>
</cp:coreProperties>
</file>